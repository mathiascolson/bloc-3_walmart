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3" r:id="rId8"/>
    <p:sldId id="262" r:id="rId9"/>
  </p:sldIdLst>
  <p:sldSz cx="9144000" cy="5143500" type="screen16x9"/>
  <p:notesSz cx="6858000" cy="9144000"/>
  <p:embeddedFontLst>
    <p:embeddedFont>
      <p:font typeface="Inter Medium" panose="020B0604020202020204" charset="0"/>
      <p:regular r:id="rId11"/>
      <p:bold r:id="rId12"/>
      <p:italic r:id="rId13"/>
      <p:boldItalic r:id="rId14"/>
    </p:embeddedFont>
    <p:embeddedFont>
      <p:font typeface="Inter SemiBold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RpKbBYb5zYLMrPNMhoHya77bV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499" autoAdjust="0"/>
  </p:normalViewPr>
  <p:slideViewPr>
    <p:cSldViewPr snapToGrid="0">
      <p:cViewPr varScale="1">
        <p:scale>
          <a:sx n="129" d="100"/>
          <a:sy n="129" d="100"/>
        </p:scale>
        <p:origin x="11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6521bfe9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6" name="Google Shape;106;g3d6521bfe9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6521bfe9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29" name="Google Shape;129;g3d6521bfe9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6521bfe9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39" name="Google Shape;139;g3d6521bfe93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49" name="Google Shape;1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65" name="Google Shape;16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3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4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4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2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91" name="Google Shape;91;p4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>
            <a:spLocks noGrp="1"/>
          </p:cNvSpPr>
          <p:nvPr>
            <p:ph type="ctrTitle"/>
          </p:nvPr>
        </p:nvSpPr>
        <p:spPr>
          <a:xfrm>
            <a:off x="735474" y="1533146"/>
            <a:ext cx="8097441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-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Projet Walmart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550" y="430537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148175" y="2547750"/>
            <a:ext cx="7932741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 algn="l">
              <a:buSzPct val="231111"/>
            </a:pPr>
            <a:r>
              <a:rPr lang="fr-FR" sz="2800" dirty="0">
                <a:solidFill>
                  <a:schemeClr val="bg1"/>
                </a:solidFill>
              </a:rPr>
              <a:t>Prévision des ventes hebdomadaires Walmart</a:t>
            </a:r>
            <a:br>
              <a:rPr lang="fr-FR" sz="2800" dirty="0">
                <a:solidFill>
                  <a:schemeClr val="bg1"/>
                </a:solidFill>
              </a:rPr>
            </a:br>
            <a:r>
              <a:rPr lang="fr-FR" sz="2200" dirty="0">
                <a:solidFill>
                  <a:schemeClr val="bg1"/>
                </a:solidFill>
              </a:rPr>
              <a:t>Projet de Machine Learning supervisé</a:t>
            </a:r>
            <a:endParaRPr sz="2500" dirty="0">
              <a:solidFill>
                <a:schemeClr val="bg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FR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6521bfe93_0_0"/>
          <p:cNvSpPr txBox="1">
            <a:spLocks noGrp="1"/>
          </p:cNvSpPr>
          <p:nvPr>
            <p:ph type="ctrTitle" idx="4294967295"/>
          </p:nvPr>
        </p:nvSpPr>
        <p:spPr>
          <a:xfrm>
            <a:off x="1192672" y="403300"/>
            <a:ext cx="51840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</a:rPr>
              <a:t>Contexte et données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09" name="Google Shape;109;g3d6521bfe93_0_0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g3d6521bfe9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d6521bfe93_0_0"/>
          <p:cNvSpPr txBox="1">
            <a:spLocks noGrp="1"/>
          </p:cNvSpPr>
          <p:nvPr>
            <p:ph type="sldNum" idx="12"/>
          </p:nvPr>
        </p:nvSpPr>
        <p:spPr>
          <a:xfrm>
            <a:off x="8472458" y="4939381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2</a:t>
            </a:fld>
            <a:endParaRPr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13D6E6D-2A5F-5507-B52D-7DC72594D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636" y="1560391"/>
            <a:ext cx="4063288" cy="258738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18B31D1-F832-6E29-A551-0E5D082809B0}"/>
              </a:ext>
            </a:extLst>
          </p:cNvPr>
          <p:cNvSpPr txBox="1"/>
          <p:nvPr/>
        </p:nvSpPr>
        <p:spPr>
          <a:xfrm>
            <a:off x="258336" y="1013493"/>
            <a:ext cx="8762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Objectif</a:t>
            </a:r>
          </a:p>
          <a:p>
            <a:pPr>
              <a:buNone/>
            </a:pPr>
            <a:r>
              <a:rPr lang="fr-FR" dirty="0"/>
              <a:t>Prédire les ventes hebdomadaires d'un magasin Walmart à partir de variables économiques et calendaires.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1CE934F-B378-FBE0-CF37-B844E2B7DC68}"/>
              </a:ext>
            </a:extLst>
          </p:cNvPr>
          <p:cNvSpPr txBox="1"/>
          <p:nvPr/>
        </p:nvSpPr>
        <p:spPr>
          <a:xfrm>
            <a:off x="384715" y="1786758"/>
            <a:ext cx="37486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📦 Jeu de données</a:t>
            </a:r>
            <a:br>
              <a:rPr lang="fr-FR" dirty="0"/>
            </a:br>
            <a:br>
              <a:rPr lang="fr-FR" dirty="0"/>
            </a:br>
            <a:r>
              <a:rPr lang="fr-FR" dirty="0"/>
              <a:t>• 150 observations initiales</a:t>
            </a:r>
            <a:br>
              <a:rPr lang="fr-FR" dirty="0"/>
            </a:br>
            <a:r>
              <a:rPr lang="fr-FR" dirty="0"/>
              <a:t>• 20 magasins Walmart</a:t>
            </a:r>
            <a:br>
              <a:rPr lang="fr-FR" dirty="0"/>
            </a:br>
            <a:r>
              <a:rPr lang="fr-FR" dirty="0"/>
              <a:t>• 8 variables dont 1 cible</a:t>
            </a:r>
            <a:br>
              <a:rPr lang="fr-FR" dirty="0"/>
            </a:br>
            <a:br>
              <a:rPr lang="fr-FR" dirty="0"/>
            </a:br>
            <a:r>
              <a:rPr lang="fr-FR" dirty="0"/>
              <a:t>🎯 Variable cible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Weekly_Sales</a:t>
            </a:r>
            <a:r>
              <a:rPr lang="fr-FR" dirty="0"/>
              <a:t> : Ventes hebdomadaires d’un magasin Walmart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DB33DC9-93AC-75FF-44E5-67EDA1D61713}"/>
              </a:ext>
            </a:extLst>
          </p:cNvPr>
          <p:cNvSpPr txBox="1"/>
          <p:nvPr/>
        </p:nvSpPr>
        <p:spPr>
          <a:xfrm>
            <a:off x="132888" y="4454038"/>
            <a:ext cx="88986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Ces variables décrivent partiellement le contexte économique, calendaire et opérationnel de chaque magasin.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>
            <a:spLocks noGrp="1"/>
          </p:cNvSpPr>
          <p:nvPr>
            <p:ph type="ctrTitle" idx="4294967295"/>
          </p:nvPr>
        </p:nvSpPr>
        <p:spPr>
          <a:xfrm>
            <a:off x="1237268" y="24389"/>
            <a:ext cx="6961985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</a:rPr>
              <a:t>Quels facteurs influencent les ventes ?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980" y="10393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 txBox="1">
            <a:spLocks noGrp="1"/>
          </p:cNvSpPr>
          <p:nvPr>
            <p:ph type="sldNum" idx="12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3</a:t>
            </a:fld>
            <a:endParaRPr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B6DCF19-2C26-A050-A513-E2C22B367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4" y="489836"/>
            <a:ext cx="4064902" cy="221315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99A94DB-758D-D60A-8141-5DF6497CC7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7980" y="1746678"/>
            <a:ext cx="3641011" cy="290895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FD694A36-8689-2EEF-50EA-451313BD0725}"/>
              </a:ext>
            </a:extLst>
          </p:cNvPr>
          <p:cNvSpPr txBox="1"/>
          <p:nvPr/>
        </p:nvSpPr>
        <p:spPr>
          <a:xfrm>
            <a:off x="4080806" y="492652"/>
            <a:ext cx="507341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Un effet magasin très marqué :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Les ventes varient beaucoup d’un magasin à l’autre</a:t>
            </a:r>
          </a:p>
          <a:p>
            <a:pPr marL="285750" indent="-285750">
              <a:buFontTx/>
              <a:buChar char="-"/>
            </a:pPr>
            <a:r>
              <a:rPr lang="fr-FR" dirty="0"/>
              <a:t>Le magasin apparaît comme un facteur explicatif majeur des ventes.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1BDC9D4-B4C1-5B76-BE6A-E4757399DDF6}"/>
              </a:ext>
            </a:extLst>
          </p:cNvPr>
          <p:cNvSpPr txBox="1"/>
          <p:nvPr/>
        </p:nvSpPr>
        <p:spPr>
          <a:xfrm>
            <a:off x="609601" y="3088899"/>
            <a:ext cx="45135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Forte saisonnalité :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Les ventes augmentent nettement en fin d’année.</a:t>
            </a:r>
          </a:p>
          <a:p>
            <a:pPr marL="285750" indent="-285750">
              <a:buFontTx/>
              <a:buChar char="-"/>
            </a:pPr>
            <a:r>
              <a:rPr lang="fr-FR" dirty="0"/>
              <a:t>Décembre représente le principal pic annuel.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62765E9-D7C7-F098-1228-0C13C8BF22D7}"/>
              </a:ext>
            </a:extLst>
          </p:cNvPr>
          <p:cNvSpPr txBox="1"/>
          <p:nvPr/>
        </p:nvSpPr>
        <p:spPr>
          <a:xfrm>
            <a:off x="0" y="4581448"/>
            <a:ext cx="9133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Les variables économiques disponibles présentent une influence plus limitée que le magasin ou la saisonnalité.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6521bfe93_0_9"/>
          <p:cNvSpPr txBox="1">
            <a:spLocks noGrp="1"/>
          </p:cNvSpPr>
          <p:nvPr>
            <p:ph type="ctrTitle" idx="4294967295"/>
          </p:nvPr>
        </p:nvSpPr>
        <p:spPr>
          <a:xfrm>
            <a:off x="1192663" y="8456"/>
            <a:ext cx="6962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</a:rPr>
              <a:t>Ce que révèle le modèle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32" name="Google Shape;132;g3d6521bfe93_0_9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g3d6521bfe93_0_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87999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d6521bfe93_0_9"/>
          <p:cNvSpPr txBox="1">
            <a:spLocks noGrp="1"/>
          </p:cNvSpPr>
          <p:nvPr>
            <p:ph type="sldNum" idx="12"/>
          </p:nvPr>
        </p:nvSpPr>
        <p:spPr>
          <a:xfrm>
            <a:off x="8472458" y="4939381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4</a:t>
            </a:fld>
            <a:endParaRPr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A4161F4-3F00-D3DF-9577-BFE7BEC9C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89465"/>
            <a:ext cx="5576785" cy="345901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7686295-4645-A69F-CED7-F5DD347C173F}"/>
              </a:ext>
            </a:extLst>
          </p:cNvPr>
          <p:cNvSpPr txBox="1"/>
          <p:nvPr/>
        </p:nvSpPr>
        <p:spPr>
          <a:xfrm>
            <a:off x="0" y="591559"/>
            <a:ext cx="8384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L’entraînement du modèle </a:t>
            </a:r>
            <a:r>
              <a:rPr lang="fr-FR" dirty="0" err="1"/>
              <a:t>baseline</a:t>
            </a:r>
            <a:r>
              <a:rPr lang="fr-FR" dirty="0"/>
              <a:t> confirme les enseignements observés lors de l'analyse exploratoire.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455E276-F8A5-EE60-A184-C5CEA720373B}"/>
              </a:ext>
            </a:extLst>
          </p:cNvPr>
          <p:cNvSpPr txBox="1"/>
          <p:nvPr/>
        </p:nvSpPr>
        <p:spPr>
          <a:xfrm>
            <a:off x="5576785" y="1427356"/>
            <a:ext cx="35774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b="1" dirty="0"/>
              <a:t>Le magasin est le principal facteur explicatif</a:t>
            </a:r>
          </a:p>
          <a:p>
            <a:r>
              <a:rPr lang="fr-FR" dirty="0"/>
              <a:t>Les différences de ventes entre magasins restent le signal le plus fort du modèle. Cependant, cela n’explique par les raisons de ces écarts, Store n’est qu’un proxy.</a:t>
            </a:r>
          </a:p>
          <a:p>
            <a:pPr marL="285750" indent="-285750">
              <a:buFontTx/>
              <a:buChar char="-"/>
            </a:pPr>
            <a:r>
              <a:rPr lang="fr-FR" b="1" dirty="0"/>
              <a:t>La saisonnalité joue un rôle majeur</a:t>
            </a:r>
          </a:p>
          <a:p>
            <a:r>
              <a:rPr lang="fr-FR" dirty="0"/>
              <a:t>Les variables temporelles confirment le pic observé en fin d'année.</a:t>
            </a:r>
          </a:p>
          <a:p>
            <a:pPr marL="285750" indent="-285750">
              <a:buFontTx/>
              <a:buChar char="-"/>
            </a:pPr>
            <a:r>
              <a:rPr lang="fr-FR" b="1" dirty="0"/>
              <a:t>Les variables économiques ont une influence plus limitée</a:t>
            </a:r>
          </a:p>
          <a:p>
            <a:r>
              <a:rPr lang="fr-FR" dirty="0"/>
              <a:t>Leur influence apparaît plus faible que celle du magasin ou de la temporalité.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6521bfe93_0_19"/>
          <p:cNvSpPr txBox="1">
            <a:spLocks noGrp="1"/>
          </p:cNvSpPr>
          <p:nvPr>
            <p:ph type="ctrTitle" idx="4294967295"/>
          </p:nvPr>
        </p:nvSpPr>
        <p:spPr>
          <a:xfrm>
            <a:off x="1192663" y="43091"/>
            <a:ext cx="6962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</a:rPr>
              <a:t>Quel modèle retenir ?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42" name="Google Shape;142;g3d6521bfe93_0_19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g3d6521bfe93_0_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122634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d6521bfe93_0_19"/>
          <p:cNvSpPr txBox="1">
            <a:spLocks noGrp="1"/>
          </p:cNvSpPr>
          <p:nvPr>
            <p:ph type="sldNum" idx="12"/>
          </p:nvPr>
        </p:nvSpPr>
        <p:spPr>
          <a:xfrm>
            <a:off x="8472458" y="4939381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E1EC0FFB-C96B-511B-2BF8-C04EF8D61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07" y="834018"/>
            <a:ext cx="6448268" cy="1507737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C7A6B749-E307-0924-F988-FE2D48678DCF}"/>
              </a:ext>
            </a:extLst>
          </p:cNvPr>
          <p:cNvSpPr txBox="1"/>
          <p:nvPr/>
        </p:nvSpPr>
        <p:spPr>
          <a:xfrm>
            <a:off x="276107" y="2571750"/>
            <a:ext cx="5105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 remarque que la régularisation améliore les performances.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527684C-B126-A86D-0E8B-A45C973BC05B}"/>
              </a:ext>
            </a:extLst>
          </p:cNvPr>
          <p:cNvSpPr txBox="1"/>
          <p:nvPr/>
        </p:nvSpPr>
        <p:spPr>
          <a:xfrm>
            <a:off x="276107" y="3126461"/>
            <a:ext cx="87450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tableau présente de meilleurs résultats pour le Lasso réglé manuellement.</a:t>
            </a:r>
          </a:p>
          <a:p>
            <a:endParaRPr lang="fr-FR" dirty="0"/>
          </a:p>
          <a:p>
            <a:r>
              <a:rPr lang="fr-FR" dirty="0"/>
              <a:t>Toutefois, l'écart observé avec le Lasso optimisé par </a:t>
            </a:r>
            <a:r>
              <a:rPr lang="fr-FR" dirty="0" err="1"/>
              <a:t>GridSearchCV</a:t>
            </a:r>
            <a:r>
              <a:rPr lang="fr-FR" dirty="0"/>
              <a:t> est marginal, tant en R² qu'en RMSE.</a:t>
            </a:r>
          </a:p>
          <a:p>
            <a:endParaRPr lang="fr-FR" dirty="0"/>
          </a:p>
          <a:p>
            <a:r>
              <a:rPr lang="fr-FR" dirty="0"/>
              <a:t>Le modèle retenu est donc le Lasso </a:t>
            </a:r>
            <a:r>
              <a:rPr lang="fr-FR" dirty="0" err="1"/>
              <a:t>GridSearchCV</a:t>
            </a:r>
            <a:r>
              <a:rPr lang="fr-FR" dirty="0"/>
              <a:t>, dont les hyperparamètres sont sélectionnés par validation croisée, ce qui limite le risque de surapprentissage lié au réglage manuel sur le jeu de test.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>
            <a:spLocks noGrp="1"/>
          </p:cNvSpPr>
          <p:nvPr>
            <p:ph type="ctrTitle" idx="4294967295"/>
          </p:nvPr>
        </p:nvSpPr>
        <p:spPr>
          <a:xfrm>
            <a:off x="1192663" y="16734"/>
            <a:ext cx="6865951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400" dirty="0"/>
              <a:t>Conclusion</a:t>
            </a:r>
            <a:endParaRPr sz="2500" b="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96277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/>
          <p:cNvSpPr txBox="1">
            <a:spLocks noGrp="1"/>
          </p:cNvSpPr>
          <p:nvPr>
            <p:ph type="sldNum" idx="12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6</a:t>
            </a:fld>
            <a:endParaRPr/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AD03A711-EBD5-D886-D0F1-FD903004FA72}"/>
              </a:ext>
            </a:extLst>
          </p:cNvPr>
          <p:cNvGrpSpPr/>
          <p:nvPr/>
        </p:nvGrpSpPr>
        <p:grpSpPr>
          <a:xfrm>
            <a:off x="889640" y="575682"/>
            <a:ext cx="2408410" cy="3992137"/>
            <a:chOff x="889640" y="810030"/>
            <a:chExt cx="2408410" cy="3992137"/>
          </a:xfrm>
        </p:grpSpPr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DE0DAAF1-C982-860C-5E6D-0A5D4F204912}"/>
                </a:ext>
              </a:extLst>
            </p:cNvPr>
            <p:cNvGrpSpPr/>
            <p:nvPr/>
          </p:nvGrpSpPr>
          <p:grpSpPr>
            <a:xfrm>
              <a:off x="889640" y="810030"/>
              <a:ext cx="2349190" cy="3992137"/>
              <a:chOff x="304800" y="721112"/>
              <a:chExt cx="2349190" cy="3992137"/>
            </a:xfrm>
          </p:grpSpPr>
          <p:grpSp>
            <p:nvGrpSpPr>
              <p:cNvPr id="8" name="Groupe 7">
                <a:extLst>
                  <a:ext uri="{FF2B5EF4-FFF2-40B4-BE49-F238E27FC236}">
                    <a16:creationId xmlns:a16="http://schemas.microsoft.com/office/drawing/2014/main" id="{5B6FF0E3-8250-915D-2FF0-B87A9C33C647}"/>
                  </a:ext>
                </a:extLst>
              </p:cNvPr>
              <p:cNvGrpSpPr/>
              <p:nvPr/>
            </p:nvGrpSpPr>
            <p:grpSpPr>
              <a:xfrm>
                <a:off x="304800" y="721112"/>
                <a:ext cx="2349190" cy="3992137"/>
                <a:chOff x="304800" y="721112"/>
                <a:chExt cx="2349190" cy="3992137"/>
              </a:xfrm>
            </p:grpSpPr>
            <p:sp>
              <p:nvSpPr>
                <p:cNvPr id="2" name="Rectangle : coins arrondis 1">
                  <a:extLst>
                    <a:ext uri="{FF2B5EF4-FFF2-40B4-BE49-F238E27FC236}">
                      <a16:creationId xmlns:a16="http://schemas.microsoft.com/office/drawing/2014/main" id="{BE9BEC07-1265-4BD2-FA72-447C5677D673}"/>
                    </a:ext>
                  </a:extLst>
                </p:cNvPr>
                <p:cNvSpPr/>
                <p:nvPr/>
              </p:nvSpPr>
              <p:spPr>
                <a:xfrm>
                  <a:off x="304800" y="721112"/>
                  <a:ext cx="2349190" cy="3992137"/>
                </a:xfrm>
                <a:prstGeom prst="roundRect">
                  <a:avLst/>
                </a:prstGeom>
                <a:noFill/>
                <a:ln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" name="ZoneTexte 3">
                  <a:extLst>
                    <a:ext uri="{FF2B5EF4-FFF2-40B4-BE49-F238E27FC236}">
                      <a16:creationId xmlns:a16="http://schemas.microsoft.com/office/drawing/2014/main" id="{FABEC188-C764-3135-3683-BDB5437522EE}"/>
                    </a:ext>
                  </a:extLst>
                </p:cNvPr>
                <p:cNvSpPr txBox="1"/>
                <p:nvPr/>
              </p:nvSpPr>
              <p:spPr>
                <a:xfrm>
                  <a:off x="759512" y="812549"/>
                  <a:ext cx="144467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dirty="0"/>
                    <a:t>Résultats clés</a:t>
                  </a:r>
                </a:p>
              </p:txBody>
            </p:sp>
            <p:cxnSp>
              <p:nvCxnSpPr>
                <p:cNvPr id="6" name="Connecteur droit 5">
                  <a:extLst>
                    <a:ext uri="{FF2B5EF4-FFF2-40B4-BE49-F238E27FC236}">
                      <a16:creationId xmlns:a16="http://schemas.microsoft.com/office/drawing/2014/main" id="{963862E3-8A14-F86A-D73E-857ECBCB0558}"/>
                    </a:ext>
                  </a:extLst>
                </p:cNvPr>
                <p:cNvCxnSpPr/>
                <p:nvPr/>
              </p:nvCxnSpPr>
              <p:spPr>
                <a:xfrm>
                  <a:off x="401444" y="1226634"/>
                  <a:ext cx="2163336" cy="0"/>
                </a:xfrm>
                <a:prstGeom prst="line">
                  <a:avLst/>
                </a:prstGeom>
                <a:ln>
                  <a:solidFill>
                    <a:srgbClr val="4472C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" name="ZoneTexte 6">
                  <a:extLst>
                    <a:ext uri="{FF2B5EF4-FFF2-40B4-BE49-F238E27FC236}">
                      <a16:creationId xmlns:a16="http://schemas.microsoft.com/office/drawing/2014/main" id="{3F150068-63F0-5B76-C57A-DDE79F26DDE9}"/>
                    </a:ext>
                  </a:extLst>
                </p:cNvPr>
                <p:cNvSpPr txBox="1"/>
                <p:nvPr/>
              </p:nvSpPr>
              <p:spPr>
                <a:xfrm>
                  <a:off x="485424" y="1485128"/>
                  <a:ext cx="2163336" cy="12311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buFontTx/>
                    <a:buChar char="-"/>
                  </a:pPr>
                  <a:r>
                    <a:rPr lang="fr-FR" sz="1200" dirty="0"/>
                    <a:t>Les ventes varient fortement selon le magasin observé</a:t>
                  </a:r>
                </a:p>
                <a:p>
                  <a:pPr marL="171450" indent="-171450">
                    <a:buFontTx/>
                    <a:buChar char="-"/>
                  </a:pPr>
                  <a:r>
                    <a:rPr lang="fr-FR" sz="1200" dirty="0"/>
                    <a:t>Store capte des différences structurelles entre points de vente</a:t>
                  </a:r>
                </a:p>
              </p:txBody>
            </p:sp>
          </p:grpSp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A6525A1A-EDC5-E891-95EA-51936C55A3DB}"/>
                  </a:ext>
                </a:extLst>
              </p:cNvPr>
              <p:cNvSpPr txBox="1"/>
              <p:nvPr/>
            </p:nvSpPr>
            <p:spPr>
              <a:xfrm>
                <a:off x="383458" y="1267565"/>
                <a:ext cx="182073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100" b="1" dirty="0"/>
                  <a:t>Un fort effet magasin</a:t>
                </a:r>
              </a:p>
            </p:txBody>
          </p:sp>
        </p:grpSp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2EDE76EA-8713-3C45-7972-5E7B261EC0F8}"/>
                </a:ext>
              </a:extLst>
            </p:cNvPr>
            <p:cNvSpPr txBox="1"/>
            <p:nvPr/>
          </p:nvSpPr>
          <p:spPr>
            <a:xfrm>
              <a:off x="1072784" y="3009093"/>
              <a:ext cx="21633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fr-FR" sz="1200" dirty="0"/>
                <a:t>Les ventes culminent en fin d’année</a:t>
              </a: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BE040D7F-AE99-D490-9362-F33CC1C17D4C}"/>
                </a:ext>
              </a:extLst>
            </p:cNvPr>
            <p:cNvSpPr txBox="1"/>
            <p:nvPr/>
          </p:nvSpPr>
          <p:spPr>
            <a:xfrm>
              <a:off x="1070264" y="2787303"/>
              <a:ext cx="22277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b="1" dirty="0"/>
                <a:t>Une saisonnalité marquée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4355F065-9081-25ED-8630-3DBF161390FF}"/>
                </a:ext>
              </a:extLst>
            </p:cNvPr>
            <p:cNvSpPr txBox="1"/>
            <p:nvPr/>
          </p:nvSpPr>
          <p:spPr>
            <a:xfrm>
              <a:off x="1018793" y="3929916"/>
              <a:ext cx="21633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fr-FR" sz="1200" dirty="0"/>
                <a:t>Ridge et Lasso améliorent les performances par rapport à la </a:t>
              </a:r>
              <a:r>
                <a:rPr lang="fr-FR" sz="1200" dirty="0" err="1"/>
                <a:t>baseline</a:t>
              </a:r>
              <a:endParaRPr lang="fr-FR" sz="1200" dirty="0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52408928-5551-77C8-4C52-2AD12E01B48D}"/>
                </a:ext>
              </a:extLst>
            </p:cNvPr>
            <p:cNvSpPr txBox="1"/>
            <p:nvPr/>
          </p:nvSpPr>
          <p:spPr>
            <a:xfrm>
              <a:off x="907596" y="3524537"/>
              <a:ext cx="23491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 dirty="0"/>
                <a:t>La régularisation améliore le modèle</a:t>
              </a:r>
            </a:p>
          </p:txBody>
        </p:sp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B9F1E8A7-1B6C-17E3-3E5F-7E74E842895E}"/>
              </a:ext>
            </a:extLst>
          </p:cNvPr>
          <p:cNvGrpSpPr/>
          <p:nvPr/>
        </p:nvGrpSpPr>
        <p:grpSpPr>
          <a:xfrm>
            <a:off x="3397405" y="575681"/>
            <a:ext cx="2357592" cy="3992137"/>
            <a:chOff x="3397405" y="810029"/>
            <a:chExt cx="2357592" cy="3992137"/>
          </a:xfrm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FD382CE5-B6E8-802A-3B34-BDD02BFE414E}"/>
                </a:ext>
              </a:extLst>
            </p:cNvPr>
            <p:cNvGrpSpPr/>
            <p:nvPr/>
          </p:nvGrpSpPr>
          <p:grpSpPr>
            <a:xfrm>
              <a:off x="3397405" y="810029"/>
              <a:ext cx="2349190" cy="3992137"/>
              <a:chOff x="304800" y="721112"/>
              <a:chExt cx="2349190" cy="3992137"/>
            </a:xfrm>
          </p:grpSpPr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7E59A4EB-E258-DB97-3AD7-5E369AA267A1}"/>
                  </a:ext>
                </a:extLst>
              </p:cNvPr>
              <p:cNvSpPr/>
              <p:nvPr/>
            </p:nvSpPr>
            <p:spPr>
              <a:xfrm>
                <a:off x="304800" y="721112"/>
                <a:ext cx="2349190" cy="3992137"/>
              </a:xfrm>
              <a:prstGeom prst="roundRect">
                <a:avLst/>
              </a:prstGeom>
              <a:noFill/>
              <a:ln>
                <a:solidFill>
                  <a:srgbClr val="4472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C890C9FB-03EB-25F6-2830-89410ED36CBE}"/>
                  </a:ext>
                </a:extLst>
              </p:cNvPr>
              <p:cNvSpPr txBox="1"/>
              <p:nvPr/>
            </p:nvSpPr>
            <p:spPr>
              <a:xfrm>
                <a:off x="1112321" y="809899"/>
                <a:ext cx="7545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Limites</a:t>
                </a:r>
              </a:p>
            </p:txBody>
          </p:sp>
          <p:cxnSp>
            <p:nvCxnSpPr>
              <p:cNvPr id="13" name="Connecteur droit 12">
                <a:extLst>
                  <a:ext uri="{FF2B5EF4-FFF2-40B4-BE49-F238E27FC236}">
                    <a16:creationId xmlns:a16="http://schemas.microsoft.com/office/drawing/2014/main" id="{3B648E9E-E8AD-60AA-9D2E-8909F81B65D4}"/>
                  </a:ext>
                </a:extLst>
              </p:cNvPr>
              <p:cNvCxnSpPr/>
              <p:nvPr/>
            </p:nvCxnSpPr>
            <p:spPr>
              <a:xfrm>
                <a:off x="401444" y="1226634"/>
                <a:ext cx="2163336" cy="0"/>
              </a:xfrm>
              <a:prstGeom prst="line">
                <a:avLst/>
              </a:prstGeom>
              <a:ln>
                <a:solidFill>
                  <a:srgbClr val="4472C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7EC6EEAD-2995-5519-5E87-333E14B908A9}"/>
                </a:ext>
              </a:extLst>
            </p:cNvPr>
            <p:cNvGrpSpPr/>
            <p:nvPr/>
          </p:nvGrpSpPr>
          <p:grpSpPr>
            <a:xfrm>
              <a:off x="3500556" y="2422917"/>
              <a:ext cx="2163336" cy="696829"/>
              <a:chOff x="3500556" y="2422917"/>
              <a:chExt cx="2163336" cy="696829"/>
            </a:xfrm>
          </p:grpSpPr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7C9AD9A7-65B9-2BEB-615B-076EF2DC29E6}"/>
                  </a:ext>
                </a:extLst>
              </p:cNvPr>
              <p:cNvSpPr txBox="1"/>
              <p:nvPr/>
            </p:nvSpPr>
            <p:spPr>
              <a:xfrm>
                <a:off x="3500556" y="2658081"/>
                <a:ext cx="21633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Tx/>
                  <a:buChar char="-"/>
                </a:pPr>
                <a:r>
                  <a:rPr lang="fr-FR" sz="1200" dirty="0"/>
                  <a:t>Peu d’observations après nettoyage</a:t>
                </a:r>
              </a:p>
            </p:txBody>
          </p:sp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90532AC6-30F2-0D21-34D5-70E147EC6622}"/>
                  </a:ext>
                </a:extLst>
              </p:cNvPr>
              <p:cNvSpPr txBox="1"/>
              <p:nvPr/>
            </p:nvSpPr>
            <p:spPr>
              <a:xfrm>
                <a:off x="3731327" y="2422917"/>
                <a:ext cx="186719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100" b="1" dirty="0"/>
                  <a:t>Un jeu de données réduit</a:t>
                </a:r>
              </a:p>
            </p:txBody>
          </p:sp>
        </p:grpSp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D454E70A-2C9E-B3BC-148D-14D7527C7B2B}"/>
                </a:ext>
              </a:extLst>
            </p:cNvPr>
            <p:cNvGrpSpPr/>
            <p:nvPr/>
          </p:nvGrpSpPr>
          <p:grpSpPr>
            <a:xfrm>
              <a:off x="3494049" y="3125253"/>
              <a:ext cx="2178205" cy="862221"/>
              <a:chOff x="3500556" y="2323247"/>
              <a:chExt cx="2178205" cy="862221"/>
            </a:xfrm>
          </p:grpSpPr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4CB4A656-86FA-9D35-F91E-AAD00FE1D71A}"/>
                  </a:ext>
                </a:extLst>
              </p:cNvPr>
              <p:cNvSpPr txBox="1"/>
              <p:nvPr/>
            </p:nvSpPr>
            <p:spPr>
              <a:xfrm>
                <a:off x="3500556" y="2539137"/>
                <a:ext cx="21633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Tx/>
                  <a:buChar char="-"/>
                </a:pPr>
                <a:r>
                  <a:rPr lang="fr-FR" sz="1200" dirty="0"/>
                  <a:t>Promotions, localisation, fréquentation, etc. seraient utiles</a:t>
                </a:r>
              </a:p>
            </p:txBody>
          </p:sp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659E8755-706D-F22F-986E-AF499E02127E}"/>
                  </a:ext>
                </a:extLst>
              </p:cNvPr>
              <p:cNvSpPr txBox="1"/>
              <p:nvPr/>
            </p:nvSpPr>
            <p:spPr>
              <a:xfrm>
                <a:off x="3737834" y="2323247"/>
                <a:ext cx="194092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100" b="1" dirty="0"/>
                  <a:t>Variables métier absentes</a:t>
                </a:r>
              </a:p>
            </p:txBody>
          </p:sp>
        </p:grpSp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D8724482-3A1B-047D-93A5-DCD4C6C2B87D}"/>
                </a:ext>
              </a:extLst>
            </p:cNvPr>
            <p:cNvGrpSpPr/>
            <p:nvPr/>
          </p:nvGrpSpPr>
          <p:grpSpPr>
            <a:xfrm>
              <a:off x="3487875" y="3953961"/>
              <a:ext cx="2267122" cy="670384"/>
              <a:chOff x="3500556" y="2122266"/>
              <a:chExt cx="2267122" cy="670384"/>
            </a:xfrm>
          </p:grpSpPr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47930D7E-1C55-C0F2-C5B3-A5E1167B24D6}"/>
                  </a:ext>
                </a:extLst>
              </p:cNvPr>
              <p:cNvSpPr txBox="1"/>
              <p:nvPr/>
            </p:nvSpPr>
            <p:spPr>
              <a:xfrm>
                <a:off x="3500556" y="2330985"/>
                <a:ext cx="21633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Tx/>
                  <a:buChar char="-"/>
                </a:pPr>
                <a:r>
                  <a:rPr lang="fr-FR" sz="1200" dirty="0"/>
                  <a:t>Résultats sensibles au faible historique disponible</a:t>
                </a:r>
              </a:p>
            </p:txBody>
          </p:sp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D191ACA8-FEE7-184D-04B8-39E5053731A5}"/>
                  </a:ext>
                </a:extLst>
              </p:cNvPr>
              <p:cNvSpPr txBox="1"/>
              <p:nvPr/>
            </p:nvSpPr>
            <p:spPr>
              <a:xfrm>
                <a:off x="3508959" y="2122266"/>
                <a:ext cx="225871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100" b="1" dirty="0"/>
                  <a:t>Prudence sur la généralisation</a:t>
                </a:r>
              </a:p>
            </p:txBody>
          </p:sp>
        </p:grpSp>
      </p:grp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EF5D36EF-687F-4070-8C71-9BCDC1317DCD}"/>
              </a:ext>
            </a:extLst>
          </p:cNvPr>
          <p:cNvGrpSpPr/>
          <p:nvPr/>
        </p:nvGrpSpPr>
        <p:grpSpPr>
          <a:xfrm>
            <a:off x="5900257" y="575680"/>
            <a:ext cx="2349190" cy="3992137"/>
            <a:chOff x="5900257" y="810028"/>
            <a:chExt cx="2349190" cy="3992137"/>
          </a:xfrm>
        </p:grpSpPr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476DA4D0-8ABC-27C2-4A7F-33DEDBF6C3A7}"/>
                </a:ext>
              </a:extLst>
            </p:cNvPr>
            <p:cNvGrpSpPr/>
            <p:nvPr/>
          </p:nvGrpSpPr>
          <p:grpSpPr>
            <a:xfrm>
              <a:off x="5900257" y="810028"/>
              <a:ext cx="2349190" cy="3992137"/>
              <a:chOff x="304800" y="721112"/>
              <a:chExt cx="2349190" cy="3992137"/>
            </a:xfrm>
          </p:grpSpPr>
          <p:sp>
            <p:nvSpPr>
              <p:cNvPr id="22" name="Rectangle : coins arrondis 21">
                <a:extLst>
                  <a:ext uri="{FF2B5EF4-FFF2-40B4-BE49-F238E27FC236}">
                    <a16:creationId xmlns:a16="http://schemas.microsoft.com/office/drawing/2014/main" id="{806030E9-39CD-B315-018E-5EE0CDD77516}"/>
                  </a:ext>
                </a:extLst>
              </p:cNvPr>
              <p:cNvSpPr/>
              <p:nvPr/>
            </p:nvSpPr>
            <p:spPr>
              <a:xfrm>
                <a:off x="304800" y="721112"/>
                <a:ext cx="2349190" cy="3992137"/>
              </a:xfrm>
              <a:prstGeom prst="roundRect">
                <a:avLst/>
              </a:prstGeom>
              <a:noFill/>
              <a:ln>
                <a:solidFill>
                  <a:srgbClr val="4472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81F51388-1690-1FC5-B636-4B75AD6D38DE}"/>
                  </a:ext>
                </a:extLst>
              </p:cNvPr>
              <p:cNvSpPr txBox="1"/>
              <p:nvPr/>
            </p:nvSpPr>
            <p:spPr>
              <a:xfrm>
                <a:off x="867323" y="826402"/>
                <a:ext cx="12241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Perspectives</a:t>
                </a:r>
              </a:p>
            </p:txBody>
          </p:sp>
          <p:cxnSp>
            <p:nvCxnSpPr>
              <p:cNvPr id="24" name="Connecteur droit 23">
                <a:extLst>
                  <a:ext uri="{FF2B5EF4-FFF2-40B4-BE49-F238E27FC236}">
                    <a16:creationId xmlns:a16="http://schemas.microsoft.com/office/drawing/2014/main" id="{5C609180-2056-214F-31B4-FE886F3FBD75}"/>
                  </a:ext>
                </a:extLst>
              </p:cNvPr>
              <p:cNvCxnSpPr/>
              <p:nvPr/>
            </p:nvCxnSpPr>
            <p:spPr>
              <a:xfrm>
                <a:off x="401444" y="1226634"/>
                <a:ext cx="2163336" cy="0"/>
              </a:xfrm>
              <a:prstGeom prst="line">
                <a:avLst/>
              </a:prstGeom>
              <a:ln>
                <a:solidFill>
                  <a:srgbClr val="4472C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6DE481B0-EEAD-6D92-F38F-AC2D07CEEB12}"/>
                </a:ext>
              </a:extLst>
            </p:cNvPr>
            <p:cNvGrpSpPr/>
            <p:nvPr/>
          </p:nvGrpSpPr>
          <p:grpSpPr>
            <a:xfrm>
              <a:off x="5991307" y="1386826"/>
              <a:ext cx="2163336" cy="649836"/>
              <a:chOff x="3494049" y="1388481"/>
              <a:chExt cx="2163336" cy="649836"/>
            </a:xfrm>
          </p:grpSpPr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6702527F-AF65-A670-3A26-C4F26077D5F2}"/>
                  </a:ext>
                </a:extLst>
              </p:cNvPr>
              <p:cNvSpPr txBox="1"/>
              <p:nvPr/>
            </p:nvSpPr>
            <p:spPr>
              <a:xfrm>
                <a:off x="3494049" y="1576652"/>
                <a:ext cx="21633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Tx/>
                  <a:buChar char="-"/>
                </a:pPr>
                <a:r>
                  <a:rPr lang="fr-FR" sz="1200" dirty="0"/>
                  <a:t>Intégrer plus de variables explicatives</a:t>
                </a:r>
              </a:p>
            </p:txBody>
          </p:sp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AECE3515-726B-24E5-2190-65E33A67B8C7}"/>
                  </a:ext>
                </a:extLst>
              </p:cNvPr>
              <p:cNvSpPr txBox="1"/>
              <p:nvPr/>
            </p:nvSpPr>
            <p:spPr>
              <a:xfrm>
                <a:off x="3648624" y="1388481"/>
                <a:ext cx="186719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100" b="1" dirty="0"/>
                  <a:t>Enrichir les données</a:t>
                </a:r>
              </a:p>
            </p:txBody>
          </p:sp>
        </p:grp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130A195C-F26F-DBEB-E267-42EFAB471FB6}"/>
                </a:ext>
              </a:extLst>
            </p:cNvPr>
            <p:cNvGrpSpPr/>
            <p:nvPr/>
          </p:nvGrpSpPr>
          <p:grpSpPr>
            <a:xfrm>
              <a:off x="5991307" y="2822651"/>
              <a:ext cx="2169843" cy="1057442"/>
              <a:chOff x="3494049" y="2015330"/>
              <a:chExt cx="2169843" cy="1057442"/>
            </a:xfrm>
          </p:grpSpPr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A7FFA914-82ED-87A1-CE62-AF16E01B710B}"/>
                  </a:ext>
                </a:extLst>
              </p:cNvPr>
              <p:cNvSpPr txBox="1"/>
              <p:nvPr/>
            </p:nvSpPr>
            <p:spPr>
              <a:xfrm>
                <a:off x="3500556" y="2241775"/>
                <a:ext cx="216333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Tx/>
                  <a:buChar char="-"/>
                </a:pPr>
                <a:r>
                  <a:rPr lang="fr-FR" sz="1200" dirty="0"/>
                  <a:t>Accroître le nombre d’observations par magasin pour renforcer les résultats</a:t>
                </a:r>
              </a:p>
            </p:txBody>
          </p:sp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765611CD-325F-0746-EA99-78CFC00A465B}"/>
                  </a:ext>
                </a:extLst>
              </p:cNvPr>
              <p:cNvSpPr txBox="1"/>
              <p:nvPr/>
            </p:nvSpPr>
            <p:spPr>
              <a:xfrm>
                <a:off x="3494049" y="2015330"/>
                <a:ext cx="216640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100" b="1" dirty="0"/>
                  <a:t>Disposer de plus d’historique</a:t>
                </a:r>
              </a:p>
            </p:txBody>
          </p:sp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80D6A65C-8753-FBEA-EAAF-D98E6AA89613}"/>
                </a:ext>
              </a:extLst>
            </p:cNvPr>
            <p:cNvGrpSpPr/>
            <p:nvPr/>
          </p:nvGrpSpPr>
          <p:grpSpPr>
            <a:xfrm>
              <a:off x="5994380" y="3861595"/>
              <a:ext cx="2165857" cy="853423"/>
              <a:chOff x="3498035" y="2034683"/>
              <a:chExt cx="2165857" cy="853423"/>
            </a:xfrm>
          </p:grpSpPr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116DE4FC-4B10-42BE-4DF9-DDC2A8475753}"/>
                  </a:ext>
                </a:extLst>
              </p:cNvPr>
              <p:cNvSpPr txBox="1"/>
              <p:nvPr/>
            </p:nvSpPr>
            <p:spPr>
              <a:xfrm>
                <a:off x="3500556" y="2241775"/>
                <a:ext cx="21633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Tx/>
                  <a:buChar char="-"/>
                </a:pPr>
                <a:r>
                  <a:rPr lang="fr-FR" sz="1200" dirty="0"/>
                  <a:t>Essayer des modèles non linéaires : Random Forest ; </a:t>
                </a:r>
                <a:r>
                  <a:rPr lang="fr-FR" sz="1200" dirty="0" err="1"/>
                  <a:t>XGBoost</a:t>
                </a:r>
                <a:endParaRPr lang="fr-FR" sz="1200" dirty="0"/>
              </a:p>
            </p:txBody>
          </p:sp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D0A4BC41-F0F9-E228-2EDB-B04D6B7D57B9}"/>
                  </a:ext>
                </a:extLst>
              </p:cNvPr>
              <p:cNvSpPr txBox="1"/>
              <p:nvPr/>
            </p:nvSpPr>
            <p:spPr>
              <a:xfrm>
                <a:off x="3498035" y="2034683"/>
                <a:ext cx="216333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100" b="1" dirty="0"/>
                  <a:t>Tester de nouveaux modèles</a:t>
                </a:r>
              </a:p>
            </p:txBody>
          </p:sp>
        </p:grpSp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5B4C1C9C-D265-D33D-90BF-07D6D78069EA}"/>
              </a:ext>
            </a:extLst>
          </p:cNvPr>
          <p:cNvGrpSpPr/>
          <p:nvPr/>
        </p:nvGrpSpPr>
        <p:grpSpPr>
          <a:xfrm>
            <a:off x="2064234" y="4593663"/>
            <a:ext cx="5994379" cy="307777"/>
            <a:chOff x="2064234" y="4593663"/>
            <a:chExt cx="5994379" cy="307777"/>
          </a:xfrm>
        </p:grpSpPr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818865BE-C245-0585-A2F9-9C10D0E6B758}"/>
                </a:ext>
              </a:extLst>
            </p:cNvPr>
            <p:cNvSpPr txBox="1"/>
            <p:nvPr/>
          </p:nvSpPr>
          <p:spPr>
            <a:xfrm>
              <a:off x="2064234" y="4593663"/>
              <a:ext cx="59943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dirty="0"/>
                <a:t>Modèle retenu : Lasso optimisé par validation croisée ( </a:t>
              </a:r>
              <a:r>
                <a:rPr lang="fr-FR" dirty="0" err="1"/>
                <a:t>GridSearchCV</a:t>
              </a:r>
              <a:r>
                <a:rPr lang="fr-FR" dirty="0"/>
                <a:t>)</a:t>
              </a:r>
            </a:p>
          </p:txBody>
        </p:sp>
        <p:sp>
          <p:nvSpPr>
            <p:cNvPr id="50" name="Rectangle : coins arrondis 49">
              <a:extLst>
                <a:ext uri="{FF2B5EF4-FFF2-40B4-BE49-F238E27FC236}">
                  <a16:creationId xmlns:a16="http://schemas.microsoft.com/office/drawing/2014/main" id="{9E505D08-0CA8-6144-6C60-15B0D2F49E75}"/>
                </a:ext>
              </a:extLst>
            </p:cNvPr>
            <p:cNvSpPr/>
            <p:nvPr/>
          </p:nvSpPr>
          <p:spPr>
            <a:xfrm>
              <a:off x="2064234" y="4607182"/>
              <a:ext cx="5689580" cy="261610"/>
            </a:xfrm>
            <a:prstGeom prst="roundRect">
              <a:avLst/>
            </a:prstGeom>
            <a:noFill/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7" name="ZoneTexte 16">
            <a:extLst>
              <a:ext uri="{FF2B5EF4-FFF2-40B4-BE49-F238E27FC236}">
                <a16:creationId xmlns:a16="http://schemas.microsoft.com/office/drawing/2014/main" id="{DE11FE72-8969-C04F-A051-95F542A8FB06}"/>
              </a:ext>
            </a:extLst>
          </p:cNvPr>
          <p:cNvSpPr txBox="1"/>
          <p:nvPr/>
        </p:nvSpPr>
        <p:spPr>
          <a:xfrm>
            <a:off x="3543969" y="1359897"/>
            <a:ext cx="2163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200" dirty="0"/>
              <a:t>Le modèle distingue les magasins, mais n’explique pas les causes de ces écarts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E7AE900-84BA-C6E5-BC3D-B7B76DADFB03}"/>
              </a:ext>
            </a:extLst>
          </p:cNvPr>
          <p:cNvSpPr txBox="1"/>
          <p:nvPr/>
        </p:nvSpPr>
        <p:spPr>
          <a:xfrm>
            <a:off x="3731327" y="1174751"/>
            <a:ext cx="18671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/>
              <a:t>Store reste un proxy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2FD37B1-CF46-595F-8D23-15961B843E53}"/>
              </a:ext>
            </a:extLst>
          </p:cNvPr>
          <p:cNvSpPr txBox="1"/>
          <p:nvPr/>
        </p:nvSpPr>
        <p:spPr>
          <a:xfrm>
            <a:off x="5997814" y="1953090"/>
            <a:ext cx="2163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200" dirty="0"/>
              <a:t>Ajouter surface, localisation, typologie, fréquentations, etc.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7C1BA5D6-9AB0-28BF-3D41-9C861A56C080}"/>
              </a:ext>
            </a:extLst>
          </p:cNvPr>
          <p:cNvSpPr txBox="1"/>
          <p:nvPr/>
        </p:nvSpPr>
        <p:spPr>
          <a:xfrm>
            <a:off x="5932448" y="1764919"/>
            <a:ext cx="2327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/>
              <a:t>Enrichir les données magasins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>
            <a:spLocks noGrp="1"/>
          </p:cNvSpPr>
          <p:nvPr>
            <p:ph type="ctrTitle" idx="4294967295"/>
          </p:nvPr>
        </p:nvSpPr>
        <p:spPr>
          <a:xfrm>
            <a:off x="1089725" y="1970775"/>
            <a:ext cx="62691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5200" b="0" i="0" u="none" strike="noStrike" cap="non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 questions ?</a:t>
            </a:r>
            <a:endParaRPr sz="5200" b="0" i="0" u="none" strike="noStrike" cap="non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68" name="Google Shape;16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496</Words>
  <Application>Microsoft Office PowerPoint</Application>
  <PresentationFormat>Affichage à l'écran (16:9)</PresentationFormat>
  <Paragraphs>67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Inter SemiBold</vt:lpstr>
      <vt:lpstr>Inter Medium</vt:lpstr>
      <vt:lpstr>Arial</vt:lpstr>
      <vt:lpstr>Simple Light</vt:lpstr>
      <vt:lpstr>1_Simple Light</vt:lpstr>
      <vt:lpstr>Projet Walmart</vt:lpstr>
      <vt:lpstr>Contexte et données</vt:lpstr>
      <vt:lpstr>Quels facteurs influencent les ventes ?</vt:lpstr>
      <vt:lpstr>Ce que révèle le modèle</vt:lpstr>
      <vt:lpstr>Quel modèle retenir ?</vt:lpstr>
      <vt:lpstr>Conclusion</vt:lpstr>
      <vt:lpstr>Des 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Jyv</dc:creator>
  <cp:lastModifiedBy>Antoine C</cp:lastModifiedBy>
  <cp:revision>25</cp:revision>
  <dcterms:modified xsi:type="dcterms:W3CDTF">2026-06-24T10:46:13Z</dcterms:modified>
</cp:coreProperties>
</file>